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912" r:id="rId4"/>
  </p:sldMasterIdLst>
  <p:notesMasterIdLst>
    <p:notesMasterId r:id="rId20"/>
  </p:notesMasterIdLst>
  <p:handoutMasterIdLst>
    <p:handoutMasterId r:id="rId21"/>
  </p:handoutMasterIdLst>
  <p:sldIdLst>
    <p:sldId id="1497" r:id="rId5"/>
    <p:sldId id="1514" r:id="rId6"/>
    <p:sldId id="1529" r:id="rId7"/>
    <p:sldId id="1528" r:id="rId8"/>
    <p:sldId id="1499" r:id="rId9"/>
    <p:sldId id="1515" r:id="rId10"/>
    <p:sldId id="1521" r:id="rId11"/>
    <p:sldId id="1522" r:id="rId12"/>
    <p:sldId id="1526" r:id="rId13"/>
    <p:sldId id="1527" r:id="rId14"/>
    <p:sldId id="1523" r:id="rId15"/>
    <p:sldId id="1516" r:id="rId16"/>
    <p:sldId id="1524" r:id="rId17"/>
    <p:sldId id="1518" r:id="rId18"/>
    <p:sldId id="153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940675A-B579-460E-94D1-54222C63F5D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0079" autoAdjust="0"/>
  </p:normalViewPr>
  <p:slideViewPr>
    <p:cSldViewPr snapToGrid="0">
      <p:cViewPr varScale="1">
        <p:scale>
          <a:sx n="71" d="100"/>
          <a:sy n="71" d="100"/>
        </p:scale>
        <p:origin x="121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4198972-73C8-9327-0850-18A64251345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55A2EB-01C3-20E0-FF45-07CCC86724F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D1EC30-5B0B-48D0-A1A8-66A96720DF24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C50A84-CDF8-9D1C-7599-D1B543581C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AAFBD2-1F7B-DB18-5994-6D22C6743F9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FBFCE-2205-4B9C-81E5-532E0690D8C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873119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F68A4D-42A7-45F7-9930-00E8DCB48D7E}" type="datetimeFigureOut">
              <a:rPr lang="en-US" smtClean="0"/>
              <a:t>9/2/2026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FDD6F49-EBB7-4CCF-97A8-E526BB28BB69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719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714B7-B169-DA2B-CD09-80579662B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54FAEE-4573-F6FB-4FA0-0EF302DE61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8B1CB9-C10E-83EA-5AA3-EB9BAC6E7D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0665A3-DDD8-51E6-D6B2-B581C7FA0D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242937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FDD6F49-EBB7-4CCF-97A8-E526BB28BB69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4094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04512D9-A095-4355-9551-356CB2C0D09E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295873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66106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6826648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75A1B29-DFBD-4673-8328-3ED6619AAB50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608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D69ADDC-FB37-4BD0-807F-2EC90205924B}" type="datetime1">
              <a:rPr lang="en-US" smtClean="0"/>
              <a:pPr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7755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B75827B4-FD33-43BF-9F9D-5FEB6B504CD5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59458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GB"/>
              <a:t>Click to edit Master text styles</a:t>
            </a:r>
          </a:p>
          <a:p>
            <a:pPr marL="228600" lvl="1" indent="-228600"/>
            <a:r>
              <a:rPr lang="en-GB"/>
              <a:t>Second level</a:t>
            </a:r>
          </a:p>
          <a:p>
            <a:pPr marL="228600" lvl="2" indent="-228600"/>
            <a:r>
              <a:rPr lang="en-GB"/>
              <a:t>Third level</a:t>
            </a:r>
          </a:p>
          <a:p>
            <a:pPr marL="228600" lvl="3" indent="-228600"/>
            <a:r>
              <a:rPr lang="en-GB"/>
              <a:t>Fourth level</a:t>
            </a:r>
          </a:p>
          <a:p>
            <a:pPr marL="228600" lvl="4" indent="-228600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6527440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713625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rgbClr val="09090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BA0B4E8-F389-4DD5-B3EC-37E88D1AD78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84447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434858448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158530578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2208135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783605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4039366704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1468663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2792654730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578391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99643"/>
      </p:ext>
    </p:extLst>
  </p:cSld>
  <p:clrMapOvr>
    <a:masterClrMapping/>
  </p:clrMapOvr>
  <p:hf sldNum="0" hdr="0" ftr="0" dt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656401948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4640075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B6CF73C-93E7-489E-AE2B-E246A7DB6D93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225619973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3497430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302849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F57FA73-4BE2-4237-90E8-28123CE1B9FA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737602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211083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F57D2C4C-3CEB-4A3F-A850-2A701BAB5B4F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94472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7041553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4D61D-AA1D-D414-2D63-F3B4B0760D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30708" y="2801929"/>
            <a:ext cx="8686801" cy="2565902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>
                <a:latin typeface="+mj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1B0EE02-7A0B-46A0-5F6E-CFBC94BDF5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46090" y="1726269"/>
            <a:ext cx="3024899" cy="547908"/>
          </a:xfrm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228600" indent="0">
              <a:buNone/>
              <a:defRPr sz="1400"/>
            </a:lvl2pPr>
            <a:lvl3pPr marL="457200" indent="0">
              <a:buNone/>
              <a:defRPr sz="1200"/>
            </a:lvl3pPr>
            <a:lvl4pPr marL="685800" indent="0">
              <a:buNone/>
              <a:defRPr sz="1100"/>
            </a:lvl4pPr>
            <a:lvl5pPr marL="914400" indent="0">
              <a:buNone/>
              <a:defRPr sz="1050"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67AE0A-CAE3-D199-2942-E05831D340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BE4564F8-E916-4EFF-887D-D1E1BBF6454B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DFBF0A-E355-74AD-4A6E-8FD2BD7A6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71D965-1C87-6430-A8A7-B6EB43D86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99776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9536" y="907302"/>
            <a:ext cx="4361688" cy="1386965"/>
          </a:xfrm>
        </p:spPr>
        <p:txBody>
          <a:bodyPr anchor="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59536" y="2438545"/>
            <a:ext cx="4366917" cy="351215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989A950D-4E95-617D-73A8-2088AA91A8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749422" y="333756"/>
            <a:ext cx="6086539" cy="6190488"/>
          </a:xfrm>
          <a:custGeom>
            <a:avLst/>
            <a:gdLst>
              <a:gd name="connsiteX0" fmla="*/ 0 w 6086539"/>
              <a:gd name="connsiteY0" fmla="*/ 0 h 6181344"/>
              <a:gd name="connsiteX1" fmla="*/ 5900171 w 6086539"/>
              <a:gd name="connsiteY1" fmla="*/ 0 h 6181344"/>
              <a:gd name="connsiteX2" fmla="*/ 6086539 w 6086539"/>
              <a:gd name="connsiteY2" fmla="*/ 186368 h 6181344"/>
              <a:gd name="connsiteX3" fmla="*/ 6086539 w 6086539"/>
              <a:gd name="connsiteY3" fmla="*/ 5994976 h 6181344"/>
              <a:gd name="connsiteX4" fmla="*/ 5900171 w 6086539"/>
              <a:gd name="connsiteY4" fmla="*/ 6181344 h 6181344"/>
              <a:gd name="connsiteX5" fmla="*/ 0 w 6086539"/>
              <a:gd name="connsiteY5" fmla="*/ 6181344 h 61813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086539" h="6181344">
                <a:moveTo>
                  <a:pt x="0" y="0"/>
                </a:moveTo>
                <a:lnTo>
                  <a:pt x="5900171" y="0"/>
                </a:lnTo>
                <a:cubicBezTo>
                  <a:pt x="6003099" y="0"/>
                  <a:pt x="6086539" y="83440"/>
                  <a:pt x="6086539" y="186368"/>
                </a:cubicBezTo>
                <a:lnTo>
                  <a:pt x="6086539" y="5994976"/>
                </a:lnTo>
                <a:cubicBezTo>
                  <a:pt x="6086539" y="6097904"/>
                  <a:pt x="6003099" y="6181344"/>
                  <a:pt x="5900171" y="6181344"/>
                </a:cubicBezTo>
                <a:lnTo>
                  <a:pt x="0" y="6181344"/>
                </a:lnTo>
                <a:close/>
              </a:path>
            </a:pathLst>
          </a:custGeom>
          <a:blipFill>
            <a:blip r:embed="rId2">
              <a:alphaModFix amt="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a:blipFill>
        </p:spPr>
        <p:txBody>
          <a:bodyPr wrap="square">
            <a:noAutofit/>
          </a:bodyPr>
          <a:lstStyle/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0" y="6529916"/>
            <a:ext cx="2031073" cy="328084"/>
          </a:xfrm>
          <a:prstGeom prst="rect">
            <a:avLst/>
          </a:prstGeom>
        </p:spPr>
        <p:txBody>
          <a:bodyPr/>
          <a:lstStyle/>
          <a:p>
            <a:fld id="{D5E635FD-01E5-4F9B-B7E3-4E8E4D553502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3" y="6529916"/>
            <a:ext cx="2805405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 dirty="0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4" y="6529916"/>
            <a:ext cx="429207" cy="32808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61011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Number Larg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4421770"/>
            <a:ext cx="7525512" cy="1933310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000" b="0" cap="none" baseline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1353387"/>
            <a:ext cx="10543032" cy="327333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1000" b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175A1B29-DFBD-4673-8328-3ED6619AAB50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413962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113385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63662" y="561268"/>
            <a:ext cx="9264676" cy="5735465"/>
          </a:xfrm>
        </p:spPr>
        <p:txBody>
          <a:bodyPr anchor="ctr">
            <a:noAutofit/>
          </a:bodyPr>
          <a:lstStyle>
            <a:lvl1pPr marL="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marL="2286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2pPr>
            <a:lvl3pPr marL="457200" indent="0" algn="ctr">
              <a:lnSpc>
                <a:spcPct val="80000"/>
              </a:lnSpc>
              <a:buNone/>
              <a:defRPr lang="en-US" sz="6600" b="0" kern="1200" cap="all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3pPr>
            <a:lvl4pPr marL="6858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4pPr>
            <a:lvl5pPr marL="914400" indent="0" algn="ctr">
              <a:lnSpc>
                <a:spcPct val="100000"/>
              </a:lnSpc>
              <a:buNone/>
              <a:defRPr lang="en-US" sz="8000" b="1" kern="1200" cap="all" baseline="0" dirty="0">
                <a:solidFill>
                  <a:schemeClr val="tx1"/>
                </a:solidFill>
                <a:latin typeface="Playfair Display Black" pitchFamily="2" charset="0"/>
                <a:ea typeface="+mj-ea"/>
                <a:cs typeface="+mj-cs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7132" y="6529916"/>
            <a:ext cx="3284341" cy="328084"/>
          </a:xfrm>
          <a:prstGeom prst="rect">
            <a:avLst/>
          </a:prstGeom>
        </p:spPr>
        <p:txBody>
          <a:bodyPr/>
          <a:lstStyle/>
          <a:p>
            <a:fld id="{E7C9592F-4A0D-4D12-B47E-4A7D843B26A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660019" y="6529916"/>
            <a:ext cx="2805405" cy="328084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5660" y="6529916"/>
            <a:ext cx="429207" cy="328084"/>
          </a:xfrm>
          <a:prstGeom prst="rect">
            <a:avLst/>
          </a:prstGeom>
        </p:spPr>
        <p:txBody>
          <a:bodyPr/>
          <a:lstStyle/>
          <a:p>
            <a:fld id="{CC057153-B650-4DEB-B370-79DDCFDCE93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4828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665DFBE8-81F4-46A1-BB38-C49D79C4F68D}" type="datetime1">
              <a:rPr lang="en-US" smtClean="0"/>
              <a:t>9/2/2026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921793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913" r:id="rId1"/>
    <p:sldLayoutId id="2147483914" r:id="rId2"/>
    <p:sldLayoutId id="2147483915" r:id="rId3"/>
    <p:sldLayoutId id="2147483916" r:id="rId4"/>
    <p:sldLayoutId id="2147483917" r:id="rId5"/>
    <p:sldLayoutId id="2147483918" r:id="rId6"/>
    <p:sldLayoutId id="2147483919" r:id="rId7"/>
    <p:sldLayoutId id="2147483920" r:id="rId8"/>
    <p:sldLayoutId id="2147483921" r:id="rId9"/>
    <p:sldLayoutId id="2147483922" r:id="rId10"/>
    <p:sldLayoutId id="2147483923" r:id="rId11"/>
    <p:sldLayoutId id="2147483924" r:id="rId12"/>
    <p:sldLayoutId id="2147483925" r:id="rId13"/>
    <p:sldLayoutId id="2147483926" r:id="rId14"/>
    <p:sldLayoutId id="2147483927" r:id="rId15"/>
    <p:sldLayoutId id="2147483928" r:id="rId16"/>
    <p:sldLayoutId id="2147483929" r:id="rId17"/>
    <p:sldLayoutId id="2147483930" r:id="rId18"/>
    <p:sldLayoutId id="2147483931" r:id="rId19"/>
    <p:sldLayoutId id="2147483932" r:id="rId20"/>
    <p:sldLayoutId id="2147483933" r:id="rId21"/>
    <p:sldLayoutId id="2147483934" r:id="rId22"/>
    <p:sldLayoutId id="2147483935" r:id="rId23"/>
    <p:sldLayoutId id="2147483936" r:id="rId24"/>
    <p:sldLayoutId id="2147483937" r:id="rId25"/>
    <p:sldLayoutId id="2147483938" r:id="rId26"/>
    <p:sldLayoutId id="2147483939" r:id="rId27"/>
    <p:sldLayoutId id="2147483940" r:id="rId28"/>
    <p:sldLayoutId id="2147483941" r:id="rId29"/>
    <p:sldLayoutId id="2147483942" r:id="rId30"/>
    <p:sldLayoutId id="2147483943" r:id="rId3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7989-07E4-B482-9F2A-EBF670F7FA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162" y="2350108"/>
            <a:ext cx="8686801" cy="2565902"/>
          </a:xfrm>
        </p:spPr>
        <p:txBody>
          <a:bodyPr>
            <a:normAutofit/>
          </a:bodyPr>
          <a:lstStyle/>
          <a:p>
            <a:r>
              <a:rPr lang="en-US" dirty="0"/>
              <a:t>AI-driven Temporal Anomaly Detection in Smart Grids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63CF5F8-0028-8636-5006-5D5C52B3277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 i="1" dirty="0"/>
              <a:t>3VS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D7F66A9-8EBC-7C8E-5081-B1C80FA064EA}"/>
              </a:ext>
            </a:extLst>
          </p:cNvPr>
          <p:cNvSpPr txBox="1">
            <a:spLocks/>
          </p:cNvSpPr>
          <p:nvPr/>
        </p:nvSpPr>
        <p:spPr>
          <a:xfrm>
            <a:off x="1947135" y="3429000"/>
            <a:ext cx="7525512" cy="19333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600" b="0" kern="1200" spc="-11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i="1" spc="0" dirty="0"/>
              <a:t>Electricity Theft Detection 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17738313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FB56E-1A01-8D29-F217-638F3BEF6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Welcome!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E9521F-CC42-235E-F804-B826A36205D1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b="1" dirty="0" err="1"/>
              <a:t>Shamithaa</a:t>
            </a:r>
            <a:r>
              <a:rPr lang="en-US" sz="2000" b="1" dirty="0"/>
              <a:t> Uday 24BAI1416</a:t>
            </a:r>
          </a:p>
          <a:p>
            <a:pPr marL="0" indent="0">
              <a:buNone/>
            </a:pPr>
            <a:r>
              <a:rPr lang="en-US" sz="2000" b="1" dirty="0"/>
              <a:t>Piyush Chandra Varman 24BAI1526</a:t>
            </a:r>
          </a:p>
          <a:p>
            <a:pPr marL="0" indent="0">
              <a:buNone/>
            </a:pPr>
            <a:r>
              <a:rPr lang="en-US" sz="2000" b="1" dirty="0" err="1"/>
              <a:t>Harshne</a:t>
            </a:r>
            <a:r>
              <a:rPr lang="en-US" sz="2000" b="1" dirty="0"/>
              <a:t> 24BAI1619</a:t>
            </a: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15" name="Picture Placeholder 14" descr="A white object on a white surface">
            <a:extLst>
              <a:ext uri="{FF2B5EF4-FFF2-40B4-BE49-F238E27FC236}">
                <a16:creationId xmlns:a16="http://schemas.microsoft.com/office/drawing/2014/main" id="{7270AD1A-8F9F-BF9D-AE26-986ADE7EF350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" b="41"/>
          <a:stretch/>
        </p:blipFill>
        <p:spPr/>
      </p:pic>
    </p:spTree>
    <p:extLst>
      <p:ext uri="{BB962C8B-B14F-4D97-AF65-F5344CB8AC3E}">
        <p14:creationId xmlns:p14="http://schemas.microsoft.com/office/powerpoint/2010/main" val="20020218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7F30D-E834-AD87-1E41-0ECE2F6C4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88BA98-B09E-0B44-7299-1B650EED9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5" y="990600"/>
            <a:ext cx="9145588" cy="3630613"/>
          </a:xfrm>
        </p:spPr>
        <p:txBody>
          <a:bodyPr anchor="b"/>
          <a:lstStyle/>
          <a:p>
            <a:r>
              <a:rPr lang="en-US" dirty="0"/>
              <a:t>Functionality</a:t>
            </a:r>
          </a:p>
        </p:txBody>
      </p:sp>
    </p:spTree>
    <p:extLst>
      <p:ext uri="{BB962C8B-B14F-4D97-AF65-F5344CB8AC3E}">
        <p14:creationId xmlns:p14="http://schemas.microsoft.com/office/powerpoint/2010/main" val="39061339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37509F1-8740-43D3-6F69-40CEB7D0A18D}"/>
              </a:ext>
            </a:extLst>
          </p:cNvPr>
          <p:cNvSpPr txBox="1"/>
          <p:nvPr/>
        </p:nvSpPr>
        <p:spPr>
          <a:xfrm>
            <a:off x="419100" y="419100"/>
            <a:ext cx="5357756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An application that is meant to tackle a big issue in modern-day resource sharing – electricity and theft via electric meters</a:t>
            </a:r>
          </a:p>
          <a:p>
            <a:endParaRPr lang="en-IN" dirty="0"/>
          </a:p>
          <a:p>
            <a:r>
              <a:rPr lang="en-IN" dirty="0"/>
              <a:t>People piggyback, or feed off, of others’ electric meters- which leads to rising costs for the average, law-abiding person while criminals get away with their theft.</a:t>
            </a:r>
          </a:p>
          <a:p>
            <a:endParaRPr lang="en-IN" dirty="0"/>
          </a:p>
          <a:p>
            <a:r>
              <a:rPr lang="en-IN" dirty="0"/>
              <a:t>Over a period of 3 years, roughly 40,000 entries were stored in a dataset.</a:t>
            </a:r>
          </a:p>
          <a:p>
            <a:endParaRPr lang="en-IN" dirty="0"/>
          </a:p>
          <a:p>
            <a:r>
              <a:rPr lang="en-IN" dirty="0"/>
              <a:t>This amount is far from human analysis.</a:t>
            </a:r>
          </a:p>
          <a:p>
            <a:endParaRPr lang="en-IN" dirty="0"/>
          </a:p>
          <a:p>
            <a:r>
              <a:rPr lang="en-IN" dirty="0"/>
              <a:t>Hence, this system incorporates a Human In The Loop (HITL) system to decide whether people have committed genuine cases of electricity theft or if they’re false alarms. </a:t>
            </a:r>
          </a:p>
          <a:p>
            <a:endParaRPr lang="en-IN" dirty="0"/>
          </a:p>
          <a:p>
            <a:r>
              <a:rPr lang="en-IN" dirty="0"/>
              <a:t>This will lead to saving billions of dollars in money and will help in creating a safer and responsible society.</a:t>
            </a:r>
          </a:p>
        </p:txBody>
      </p:sp>
    </p:spTree>
    <p:extLst>
      <p:ext uri="{BB962C8B-B14F-4D97-AF65-F5344CB8AC3E}">
        <p14:creationId xmlns:p14="http://schemas.microsoft.com/office/powerpoint/2010/main" val="264505283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CC7084-C959-6935-0D99-455326A78F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5" y="990600"/>
            <a:ext cx="9145588" cy="3630613"/>
          </a:xfrm>
        </p:spPr>
        <p:txBody>
          <a:bodyPr anchor="b"/>
          <a:lstStyle/>
          <a:p>
            <a:r>
              <a:rPr lang="en-US" dirty="0"/>
              <a:t>Innovation</a:t>
            </a:r>
          </a:p>
        </p:txBody>
      </p:sp>
    </p:spTree>
    <p:extLst>
      <p:ext uri="{BB962C8B-B14F-4D97-AF65-F5344CB8AC3E}">
        <p14:creationId xmlns:p14="http://schemas.microsoft.com/office/powerpoint/2010/main" val="17518853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22CC9C-AE86-D77D-2F74-8B39860A88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0" y="5099503"/>
            <a:ext cx="7525512" cy="1933310"/>
          </a:xfrm>
        </p:spPr>
        <p:txBody>
          <a:bodyPr/>
          <a:lstStyle/>
          <a:p>
            <a:r>
              <a:rPr lang="en-US" dirty="0"/>
              <a:t>At times, theft is the result of silent, gradual changes. We aim to catch these silent changes by reducing static thresholds and using time-series feature engineering.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CAA463-F531-1FC1-6826-167C367BDDA1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>
            <a:normAutofit/>
          </a:bodyPr>
          <a:lstStyle/>
          <a:p>
            <a:r>
              <a:rPr lang="en-US" sz="11500" b="1" dirty="0"/>
              <a:t>Dynamic Load Profiling</a:t>
            </a:r>
          </a:p>
        </p:txBody>
      </p:sp>
    </p:spTree>
    <p:extLst>
      <p:ext uri="{BB962C8B-B14F-4D97-AF65-F5344CB8AC3E}">
        <p14:creationId xmlns:p14="http://schemas.microsoft.com/office/powerpoint/2010/main" val="340853655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CC10D-92D5-94AE-737F-451128B9FE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AE346-5BF9-9469-1EE6-223BCD674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Eliminating randomness by reducing random test/train splits and instead focusing mainly on past consumption data to evaluate the probability of future theft.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2D11D7-E38B-0D1A-CEA5-11E514ADE33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anchor="ctr">
            <a:normAutofit fontScale="77500" lnSpcReduction="20000"/>
          </a:bodyPr>
          <a:lstStyle/>
          <a:p>
            <a:r>
              <a:rPr lang="en-US" sz="11500" b="1" dirty="0"/>
              <a:t>Leakage-Free Temporal Splitting</a:t>
            </a:r>
          </a:p>
        </p:txBody>
      </p:sp>
    </p:spTree>
    <p:extLst>
      <p:ext uri="{BB962C8B-B14F-4D97-AF65-F5344CB8AC3E}">
        <p14:creationId xmlns:p14="http://schemas.microsoft.com/office/powerpoint/2010/main" val="954667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E9BA5-DDEF-9AFF-FEB2-5AABCC7CF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B732C9-7A9C-28FF-0F5B-297FAFF78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Probabilistic risk scores, combined with proof of past consumption, make the scoring easily explainable.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84797D-CF9B-B608-7147-52B827254D5B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 anchor="ctr">
            <a:normAutofit fontScale="77500" lnSpcReduction="20000"/>
          </a:bodyPr>
          <a:lstStyle/>
          <a:p>
            <a:r>
              <a:rPr lang="en-US" sz="11500" b="1" dirty="0"/>
              <a:t>Suspicion Scoring – explained easily.</a:t>
            </a:r>
          </a:p>
        </p:txBody>
      </p:sp>
    </p:spTree>
    <p:extLst>
      <p:ext uri="{BB962C8B-B14F-4D97-AF65-F5344CB8AC3E}">
        <p14:creationId xmlns:p14="http://schemas.microsoft.com/office/powerpoint/2010/main" val="393476436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939A51-383F-A923-EF58-5DBF06572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840978-3BE8-579B-E29B-7BBF94DDA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5" y="990600"/>
            <a:ext cx="9145588" cy="3630613"/>
          </a:xfrm>
        </p:spPr>
        <p:txBody>
          <a:bodyPr anchor="b"/>
          <a:lstStyle/>
          <a:p>
            <a:r>
              <a:rPr lang="en-US" dirty="0"/>
              <a:t>Technicality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87522941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6C2965E9-3FFF-1605-050F-1B86DB466A81}"/>
              </a:ext>
            </a:extLst>
          </p:cNvPr>
          <p:cNvSpPr txBox="1"/>
          <p:nvPr/>
        </p:nvSpPr>
        <p:spPr>
          <a:xfrm>
            <a:off x="-466166" y="527126"/>
            <a:ext cx="55724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dirty="0"/>
              <a:t>PR-AUC (Precision Recall AUC)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27E937-98C3-4063-22C5-AECAE92CE6E0}"/>
              </a:ext>
            </a:extLst>
          </p:cNvPr>
          <p:cNvSpPr txBox="1"/>
          <p:nvPr/>
        </p:nvSpPr>
        <p:spPr>
          <a:xfrm>
            <a:off x="419100" y="1366221"/>
            <a:ext cx="11353800" cy="188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000" dirty="0"/>
              <a:t>PR-AUC is much more reliable than standard accuracy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000" dirty="0"/>
              <a:t>This occurs due to the massive class imbalance, which causes unreliability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IN" sz="2000" dirty="0"/>
              <a:t>PR-AUC heavily penalizes false positive cases, which helps the model understand and adapt to the dataset better.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4D10B8A-C1AF-1FBB-2F0C-3DE63BDDC1AF}"/>
              </a:ext>
            </a:extLst>
          </p:cNvPr>
          <p:cNvSpPr txBox="1"/>
          <p:nvPr/>
        </p:nvSpPr>
        <p:spPr>
          <a:xfrm>
            <a:off x="-808626" y="3498039"/>
            <a:ext cx="55724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000" dirty="0"/>
              <a:t>Temporal Test Train Split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8B7EFB-038A-F2E0-E061-91EB29E52A86}"/>
              </a:ext>
            </a:extLst>
          </p:cNvPr>
          <p:cNvSpPr txBox="1"/>
          <p:nvPr/>
        </p:nvSpPr>
        <p:spPr>
          <a:xfrm>
            <a:off x="399372" y="4197281"/>
            <a:ext cx="11353800" cy="14235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IN" sz="2000" dirty="0"/>
              <a:t>Preventing data leakages through using only 70% of the dataset during testing/training, which prevents the model from hallucinating and causing discrepancies through picking future, unavailable values from the dataset.</a:t>
            </a:r>
          </a:p>
        </p:txBody>
      </p:sp>
    </p:spTree>
    <p:extLst>
      <p:ext uri="{BB962C8B-B14F-4D97-AF65-F5344CB8AC3E}">
        <p14:creationId xmlns:p14="http://schemas.microsoft.com/office/powerpoint/2010/main" val="2047902027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25584-6ECD-26B2-203F-1E090AE60C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DC926F-5672-9EC4-DBC6-119361BDD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70125" y="990600"/>
            <a:ext cx="9145588" cy="3630613"/>
          </a:xfrm>
        </p:spPr>
        <p:txBody>
          <a:bodyPr anchor="b"/>
          <a:lstStyle/>
          <a:p>
            <a:r>
              <a:rPr lang="en-US" dirty="0"/>
              <a:t>Impact</a:t>
            </a:r>
          </a:p>
        </p:txBody>
      </p:sp>
    </p:spTree>
    <p:extLst>
      <p:ext uri="{BB962C8B-B14F-4D97-AF65-F5344CB8AC3E}">
        <p14:creationId xmlns:p14="http://schemas.microsoft.com/office/powerpoint/2010/main" val="11342547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751BC45-CAED-BB43-A297-009708D51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Quote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B897C-9D62-36E3-5DC1-154478A93ECF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lang="en-US" sz="8800" b="1" dirty="0"/>
              <a:t>10 BILLION USD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B5C4C08-211C-4506-43A8-E826D07B32DC}"/>
              </a:ext>
            </a:extLst>
          </p:cNvPr>
          <p:cNvSpPr txBox="1">
            <a:spLocks/>
          </p:cNvSpPr>
          <p:nvPr/>
        </p:nvSpPr>
        <p:spPr>
          <a:xfrm>
            <a:off x="970788" y="4489503"/>
            <a:ext cx="10250424" cy="19333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2800" b="0" kern="1200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Is the money lost to electricity theft annually.</a:t>
            </a:r>
          </a:p>
        </p:txBody>
      </p:sp>
    </p:spTree>
    <p:extLst>
      <p:ext uri="{BB962C8B-B14F-4D97-AF65-F5344CB8AC3E}">
        <p14:creationId xmlns:p14="http://schemas.microsoft.com/office/powerpoint/2010/main" val="2949280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BB3A6A-1BD8-8125-15E1-120A167C07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E74510-291B-9C5B-E362-F7709E2D36C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561268"/>
            <a:ext cx="11353800" cy="5735465"/>
          </a:xfrm>
        </p:spPr>
        <p:txBody>
          <a:bodyPr/>
          <a:lstStyle/>
          <a:p>
            <a:r>
              <a:rPr lang="en-IN" sz="6000" b="1" dirty="0"/>
              <a:t>42 THOUSAND ENTRIES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D3F908AE-F2E0-BF65-87CE-8B663A551E35}"/>
              </a:ext>
            </a:extLst>
          </p:cNvPr>
          <p:cNvSpPr txBox="1">
            <a:spLocks/>
          </p:cNvSpPr>
          <p:nvPr/>
        </p:nvSpPr>
        <p:spPr>
          <a:xfrm>
            <a:off x="970788" y="4489503"/>
            <a:ext cx="10250424" cy="193331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2800" b="0" kern="1200" spc="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sz="2000" dirty="0"/>
              <a:t>This amount can be expanded to more using data centers and high-powered systems, hence ensuring a system that relies lesser on human auditing and more on probabilistic risk.</a:t>
            </a:r>
          </a:p>
        </p:txBody>
      </p:sp>
    </p:spTree>
    <p:extLst>
      <p:ext uri="{BB962C8B-B14F-4D97-AF65-F5344CB8AC3E}">
        <p14:creationId xmlns:p14="http://schemas.microsoft.com/office/powerpoint/2010/main" val="28929583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15AA47-C380-92B8-FD38-407F9904A5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5230201"/>
              </p:ext>
            </p:extLst>
          </p:nvPr>
        </p:nvGraphicFramePr>
        <p:xfrm>
          <a:off x="1477384" y="992194"/>
          <a:ext cx="9237232" cy="510380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18616">
                  <a:extLst>
                    <a:ext uri="{9D8B030D-6E8A-4147-A177-3AD203B41FA5}">
                      <a16:colId xmlns:a16="http://schemas.microsoft.com/office/drawing/2014/main" val="1550590424"/>
                    </a:ext>
                  </a:extLst>
                </a:gridCol>
                <a:gridCol w="4618616">
                  <a:extLst>
                    <a:ext uri="{9D8B030D-6E8A-4147-A177-3AD203B41FA5}">
                      <a16:colId xmlns:a16="http://schemas.microsoft.com/office/drawing/2014/main" val="3538378782"/>
                    </a:ext>
                  </a:extLst>
                </a:gridCol>
              </a:tblGrid>
              <a:tr h="1501120">
                <a:tc>
                  <a:txBody>
                    <a:bodyPr/>
                    <a:lstStyle/>
                    <a:p>
                      <a:r>
                        <a:rPr lang="en-IN" dirty="0"/>
                        <a:t>Low-Compute Model Overhead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b="1" dirty="0" err="1"/>
                        <a:t>LightGBM</a:t>
                      </a:r>
                      <a:r>
                        <a:rPr lang="en-IN" dirty="0"/>
                        <a:t>, for fast training and sub-second inference over tens of thousands of entries.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9195531"/>
                  </a:ext>
                </a:extLst>
              </a:tr>
              <a:tr h="1050783">
                <a:tc>
                  <a:txBody>
                    <a:bodyPr/>
                    <a:lstStyle/>
                    <a:p>
                      <a:r>
                        <a:rPr lang="en-IN" dirty="0"/>
                        <a:t>Class Imbalance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Employs class-weighted loss functions to handle real-world conditions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5494206"/>
                  </a:ext>
                </a:extLst>
              </a:tr>
              <a:tr h="1501120">
                <a:tc>
                  <a:txBody>
                    <a:bodyPr/>
                    <a:lstStyle/>
                    <a:p>
                      <a:r>
                        <a:rPr lang="en-IN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 err="1"/>
                        <a:t>FastAPI</a:t>
                      </a:r>
                      <a:r>
                        <a:rPr lang="en-IN" dirty="0"/>
                        <a:t> handling model inference as well as providing predictions using REST APIs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33857"/>
                  </a:ext>
                </a:extLst>
              </a:tr>
              <a:tr h="1050783">
                <a:tc>
                  <a:txBody>
                    <a:bodyPr/>
                    <a:lstStyle/>
                    <a:p>
                      <a:r>
                        <a:rPr lang="en-IN" dirty="0"/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React.js page to help users understand the learnings of the dataset better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2814314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A14E145-2F3F-9C93-F4E0-D4D40316F3FB}"/>
              </a:ext>
            </a:extLst>
          </p:cNvPr>
          <p:cNvSpPr txBox="1"/>
          <p:nvPr/>
        </p:nvSpPr>
        <p:spPr>
          <a:xfrm>
            <a:off x="3481219" y="204395"/>
            <a:ext cx="522956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400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272877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4025D0B-D5A8-C67B-8B28-9FCC1F1FDD59}"/>
              </a:ext>
            </a:extLst>
          </p:cNvPr>
          <p:cNvSpPr txBox="1"/>
          <p:nvPr/>
        </p:nvSpPr>
        <p:spPr>
          <a:xfrm>
            <a:off x="1807284" y="2705725"/>
            <a:ext cx="8577431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8800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740452684"/>
      </p:ext>
    </p:extLst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A9C388-2C06-4AF2-857C-74055069A29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76F8FCD-0A1F-4F6A-8F55-15E9E87E2E4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782DA7-86C0-4A84-A860-11A1E6E3FB6B}">
  <ds:schemaRefs>
    <ds:schemaRef ds:uri="http://www.w3.org/XML/1998/namespace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infopath/2007/PartnerControls"/>
    <ds:schemaRef ds:uri="71af3243-3dd4-4a8d-8c0d-dd76da1f02a5"/>
    <ds:schemaRef ds:uri="http://schemas.microsoft.com/sharepoint/v3"/>
    <ds:schemaRef ds:uri="http://schemas.microsoft.com/office/2006/metadata/properties"/>
    <ds:schemaRef ds:uri="http://schemas.openxmlformats.org/package/2006/metadata/core-properties"/>
    <ds:schemaRef ds:uri="230e9df3-be65-4c73-a93b-d1236ebd677e"/>
    <ds:schemaRef ds:uri="16c05727-aa75-4e4a-9b5f-8a80a1165891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174</TotalTime>
  <Words>432</Words>
  <Application>Microsoft Office PowerPoint</Application>
  <PresentationFormat>Widescreen</PresentationFormat>
  <Paragraphs>51</Paragraphs>
  <Slides>15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Neue Haas Grotesk Text Pro</vt:lpstr>
      <vt:lpstr>Playfair Display Black</vt:lpstr>
      <vt:lpstr>Film Burn</vt:lpstr>
      <vt:lpstr>AI-driven Temporal Anomaly Detection in Smart Grids</vt:lpstr>
      <vt:lpstr>Welcome!</vt:lpstr>
      <vt:lpstr>Functionality</vt:lpstr>
      <vt:lpstr>PowerPoint Presentation</vt:lpstr>
      <vt:lpstr>Innovation</vt:lpstr>
      <vt:lpstr>At times, theft is the result of silent, gradual changes. We aim to catch these silent changes by reducing static thresholds and using time-series feature engineering.</vt:lpstr>
      <vt:lpstr>Eliminating randomness by reducing random test/train splits and instead focusing mainly on past consumption data to evaluate the probability of future theft.</vt:lpstr>
      <vt:lpstr>Probabilistic risk scores, combined with proof of past consumption, make the scoring easily explainable.</vt:lpstr>
      <vt:lpstr>Technicality</vt:lpstr>
      <vt:lpstr>PowerPoint Presentation</vt:lpstr>
      <vt:lpstr>Impact</vt:lpstr>
      <vt:lpstr>Quote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Piyush Varman</dc:creator>
  <cp:lastModifiedBy>Piyush Varman</cp:lastModifiedBy>
  <cp:revision>4</cp:revision>
  <dcterms:created xsi:type="dcterms:W3CDTF">2026-09-01T08:19:38Z</dcterms:created>
  <dcterms:modified xsi:type="dcterms:W3CDTF">2026-09-02T03:02:20Z</dcterms:modified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