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4"/>
  </p:sldMasterIdLst>
  <p:notesMasterIdLst>
    <p:notesMasterId r:id="rId20"/>
  </p:notesMasterIdLst>
  <p:handoutMasterIdLst>
    <p:handoutMasterId r:id="rId21"/>
  </p:handoutMasterIdLst>
  <p:sldIdLst>
    <p:sldId id="1514" r:id="rId5"/>
    <p:sldId id="1497" r:id="rId6"/>
    <p:sldId id="1529" r:id="rId7"/>
    <p:sldId id="1528" r:id="rId8"/>
    <p:sldId id="1499" r:id="rId9"/>
    <p:sldId id="1515" r:id="rId10"/>
    <p:sldId id="1521" r:id="rId11"/>
    <p:sldId id="1522" r:id="rId12"/>
    <p:sldId id="1526" r:id="rId13"/>
    <p:sldId id="1527" r:id="rId14"/>
    <p:sldId id="1523" r:id="rId15"/>
    <p:sldId id="1516" r:id="rId16"/>
    <p:sldId id="1524" r:id="rId17"/>
    <p:sldId id="1518" r:id="rId18"/>
    <p:sldId id="153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0079" autoAdjust="0"/>
  </p:normalViewPr>
  <p:slideViewPr>
    <p:cSldViewPr snapToGrid="0">
      <p:cViewPr varScale="1">
        <p:scale>
          <a:sx n="71" d="100"/>
          <a:sy n="71" d="100"/>
        </p:scale>
        <p:origin x="12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714B7-B169-DA2B-CD09-80579662B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4FAEE-4573-F6FB-4FA0-0EF302DE6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B1CB9-C10E-83EA-5AA3-EB9BAC6E7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665A3-DDD8-51E6-D6B2-B581C7FA0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29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094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4512D9-A095-4355-9551-356CB2C0D09E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958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661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266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A1B29-DFBD-4673-8328-3ED6619AAB50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084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75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5827B4-FD33-43BF-9F9D-5FEB6B504CD5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94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</a:p>
          <a:p>
            <a:pPr marL="228600" lvl="1" indent="-228600"/>
            <a:r>
              <a:rPr lang="en-GB"/>
              <a:t>Second level</a:t>
            </a:r>
          </a:p>
          <a:p>
            <a:pPr marL="228600" lvl="2" indent="-228600"/>
            <a:r>
              <a:rPr lang="en-GB"/>
              <a:t>Third level</a:t>
            </a:r>
          </a:p>
          <a:p>
            <a:pPr marL="228600" lvl="3" indent="-228600"/>
            <a:r>
              <a:rPr lang="en-GB"/>
              <a:t>Fourth level</a:t>
            </a:r>
          </a:p>
          <a:p>
            <a:pPr marL="228600" lvl="4" indent="-228600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5274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13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0B4E8-F389-4DD5-B3EC-37E88D1AD78F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348584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585305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2081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36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3936670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46866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926547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839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964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65640194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64007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6CF73C-93E7-489E-AE2B-E246A7DB6D93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256199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743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30284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57FA73-4BE2-4237-90E8-28123CE1B9FA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760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21108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7D2C4C-3CEB-4A3F-A850-2A701BAB5B4F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447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4155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9977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6101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1396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82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217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  <p:sldLayoutId id="2147483929" r:id="rId17"/>
    <p:sldLayoutId id="2147483930" r:id="rId18"/>
    <p:sldLayoutId id="2147483931" r:id="rId19"/>
    <p:sldLayoutId id="2147483932" r:id="rId20"/>
    <p:sldLayoutId id="2147483933" r:id="rId21"/>
    <p:sldLayoutId id="2147483934" r:id="rId22"/>
    <p:sldLayoutId id="2147483935" r:id="rId23"/>
    <p:sldLayoutId id="2147483936" r:id="rId24"/>
    <p:sldLayoutId id="2147483937" r:id="rId25"/>
    <p:sldLayoutId id="2147483938" r:id="rId26"/>
    <p:sldLayoutId id="2147483939" r:id="rId27"/>
    <p:sldLayoutId id="2147483940" r:id="rId28"/>
    <p:sldLayoutId id="2147483941" r:id="rId29"/>
    <p:sldLayoutId id="2147483942" r:id="rId30"/>
    <p:sldLayoutId id="2147483943" r:id="rId3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Shamithaa</a:t>
            </a:r>
            <a:r>
              <a:rPr lang="en-US" sz="2000" b="1" dirty="0"/>
              <a:t> Uday 24BAI1416</a:t>
            </a:r>
          </a:p>
          <a:p>
            <a:pPr marL="0" indent="0">
              <a:buNone/>
            </a:pPr>
            <a:r>
              <a:rPr lang="en-US" sz="2000" b="1" dirty="0"/>
              <a:t>Piyush Chandra Varman 24BAI1526</a:t>
            </a:r>
          </a:p>
          <a:p>
            <a:pPr marL="0" indent="0">
              <a:buNone/>
            </a:pPr>
            <a:r>
              <a:rPr lang="en-US" sz="2000" b="1" dirty="0" err="1"/>
              <a:t>Harshne</a:t>
            </a:r>
            <a:r>
              <a:rPr lang="en-US" sz="2000" b="1" dirty="0"/>
              <a:t> 24BAI1619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5" name="Picture Placeholder 14" descr="A white object on a white surface">
            <a:extLst>
              <a:ext uri="{FF2B5EF4-FFF2-40B4-BE49-F238E27FC236}">
                <a16:creationId xmlns:a16="http://schemas.microsoft.com/office/drawing/2014/main" id="{7270AD1A-8F9F-BF9D-AE26-986ADE7EF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" b="41"/>
          <a:stretch/>
        </p:blipFill>
        <p:spPr/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162" y="2350108"/>
            <a:ext cx="8686801" cy="2565902"/>
          </a:xfrm>
        </p:spPr>
        <p:txBody>
          <a:bodyPr>
            <a:normAutofit/>
          </a:bodyPr>
          <a:lstStyle/>
          <a:p>
            <a:r>
              <a:rPr lang="en-US" dirty="0"/>
              <a:t>AI-driven Temporal Anomaly Detection in Smart Grids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3VS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7F66A9-8EBC-7C8E-5081-B1C80FA064EA}"/>
              </a:ext>
            </a:extLst>
          </p:cNvPr>
          <p:cNvSpPr txBox="1">
            <a:spLocks/>
          </p:cNvSpPr>
          <p:nvPr/>
        </p:nvSpPr>
        <p:spPr>
          <a:xfrm>
            <a:off x="1947135" y="3429000"/>
            <a:ext cx="7525512" cy="1933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6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i="1" spc="0" dirty="0"/>
              <a:t>Electricity Theft Detection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F30D-E834-AD87-1E41-0ECE2F6C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BA98-B09E-0B44-7299-1B650EED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 dirty="0"/>
              <a:t>Functionality</a:t>
            </a:r>
          </a:p>
        </p:txBody>
      </p:sp>
    </p:spTree>
    <p:extLst>
      <p:ext uri="{BB962C8B-B14F-4D97-AF65-F5344CB8AC3E}">
        <p14:creationId xmlns:p14="http://schemas.microsoft.com/office/powerpoint/2010/main" val="3906133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7509F1-8740-43D3-6F69-40CEB7D0A18D}"/>
              </a:ext>
            </a:extLst>
          </p:cNvPr>
          <p:cNvSpPr txBox="1"/>
          <p:nvPr/>
        </p:nvSpPr>
        <p:spPr>
          <a:xfrm>
            <a:off x="419100" y="419100"/>
            <a:ext cx="535775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 application that is meant to tackle a big issue in modern-day resource sharing – electricity and theft via electric meters</a:t>
            </a:r>
          </a:p>
          <a:p>
            <a:endParaRPr lang="en-IN" dirty="0"/>
          </a:p>
          <a:p>
            <a:r>
              <a:rPr lang="en-IN" dirty="0"/>
              <a:t>People piggyback, or feed off, of others’ electric meters- which leads to rising costs for the average, law-abiding person while criminals get away with their theft.</a:t>
            </a:r>
          </a:p>
          <a:p>
            <a:endParaRPr lang="en-IN" dirty="0"/>
          </a:p>
          <a:p>
            <a:r>
              <a:rPr lang="en-IN" dirty="0"/>
              <a:t>Over a period of 3 years, roughly 40,000 entries were stored in a dataset.</a:t>
            </a:r>
          </a:p>
          <a:p>
            <a:endParaRPr lang="en-IN" dirty="0"/>
          </a:p>
          <a:p>
            <a:r>
              <a:rPr lang="en-IN" dirty="0"/>
              <a:t>This amount is far from human analysis.</a:t>
            </a:r>
          </a:p>
          <a:p>
            <a:endParaRPr lang="en-IN" dirty="0"/>
          </a:p>
          <a:p>
            <a:r>
              <a:rPr lang="en-IN" dirty="0"/>
              <a:t>Hence, this system incorporates a Human In The Loop (HITL) system to decide whether people have committed genuine cases of electricity theft or if they’re false alarms. </a:t>
            </a:r>
          </a:p>
          <a:p>
            <a:endParaRPr lang="en-IN" dirty="0"/>
          </a:p>
          <a:p>
            <a:r>
              <a:rPr lang="en-IN" dirty="0"/>
              <a:t>This will lead to saving billions of dollars in money and will help in creating a safer and responsible society.</a:t>
            </a:r>
          </a:p>
        </p:txBody>
      </p:sp>
    </p:spTree>
    <p:extLst>
      <p:ext uri="{BB962C8B-B14F-4D97-AF65-F5344CB8AC3E}">
        <p14:creationId xmlns:p14="http://schemas.microsoft.com/office/powerpoint/2010/main" val="26450528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 dirty="0"/>
              <a:t>Innovation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C9C-AE86-D77D-2F74-8B39860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9503"/>
            <a:ext cx="7525512" cy="1933310"/>
          </a:xfrm>
        </p:spPr>
        <p:txBody>
          <a:bodyPr/>
          <a:lstStyle/>
          <a:p>
            <a:r>
              <a:rPr lang="en-US" dirty="0"/>
              <a:t>At times, theft is the result of silent, gradual changes. We aim to catch these silent changes by reducing static thresholds and using time-series feature engineering.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463-F531-1FC1-6826-167C367BDDA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1500" b="1" dirty="0"/>
              <a:t>Dynamic Load Profiling</a:t>
            </a:r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CC10D-92D5-94AE-737F-451128B9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E346-5BF9-9469-1EE6-223BCD67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Eliminating randomness by reducing random test/train splits and instead focusing mainly on past consumption data to evaluate the probability of future theft.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D11D7-E38B-0D1A-CEA5-11E514ADE3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>
            <a:normAutofit fontScale="77500" lnSpcReduction="20000"/>
          </a:bodyPr>
          <a:lstStyle/>
          <a:p>
            <a:r>
              <a:rPr lang="en-US" sz="11500" b="1" dirty="0"/>
              <a:t>Leakage-Free Temporal Splitting</a:t>
            </a:r>
          </a:p>
        </p:txBody>
      </p:sp>
    </p:spTree>
    <p:extLst>
      <p:ext uri="{BB962C8B-B14F-4D97-AF65-F5344CB8AC3E}">
        <p14:creationId xmlns:p14="http://schemas.microsoft.com/office/powerpoint/2010/main" val="954667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E9BA5-DDEF-9AFF-FEB2-5AABCC7C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32C9-7A9C-28FF-0F5B-297FAFF7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risk scores, combined with proof of past consumption, make the scoring easily explainable.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4797D-CF9B-B608-7147-52B827254D5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>
            <a:normAutofit fontScale="77500" lnSpcReduction="20000"/>
          </a:bodyPr>
          <a:lstStyle/>
          <a:p>
            <a:r>
              <a:rPr lang="en-US" sz="11500" b="1" dirty="0"/>
              <a:t>Suspicion Scoring – explained easily.</a:t>
            </a:r>
          </a:p>
        </p:txBody>
      </p:sp>
    </p:spTree>
    <p:extLst>
      <p:ext uri="{BB962C8B-B14F-4D97-AF65-F5344CB8AC3E}">
        <p14:creationId xmlns:p14="http://schemas.microsoft.com/office/powerpoint/2010/main" val="3934764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39A51-383F-A923-EF58-5DBF06572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40978-3BE8-579B-E29B-7BBF94DDA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 dirty="0"/>
              <a:t>Technicality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75229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2965E9-3FFF-1605-050F-1B86DB466A81}"/>
              </a:ext>
            </a:extLst>
          </p:cNvPr>
          <p:cNvSpPr txBox="1"/>
          <p:nvPr/>
        </p:nvSpPr>
        <p:spPr>
          <a:xfrm>
            <a:off x="-466166" y="527126"/>
            <a:ext cx="5572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PR-AUC (Precision Recall AUC)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27E937-98C3-4063-22C5-AECAE92CE6E0}"/>
              </a:ext>
            </a:extLst>
          </p:cNvPr>
          <p:cNvSpPr txBox="1"/>
          <p:nvPr/>
        </p:nvSpPr>
        <p:spPr>
          <a:xfrm>
            <a:off x="419100" y="1366221"/>
            <a:ext cx="11353800" cy="188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PR-AUC is much more reliable than standard accuracy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This occurs due to the massive class imbalance, which causes unreliability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PR-AUC heavily penalizes false positive cases, which helps the model understand and adapt to the dataset better.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D10B8A-C1AF-1FBB-2F0C-3DE63BDDC1AF}"/>
              </a:ext>
            </a:extLst>
          </p:cNvPr>
          <p:cNvSpPr txBox="1"/>
          <p:nvPr/>
        </p:nvSpPr>
        <p:spPr>
          <a:xfrm>
            <a:off x="-808626" y="3498039"/>
            <a:ext cx="5572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Temporal Test Train Split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B7EFB-038A-F2E0-E061-91EB29E52A86}"/>
              </a:ext>
            </a:extLst>
          </p:cNvPr>
          <p:cNvSpPr txBox="1"/>
          <p:nvPr/>
        </p:nvSpPr>
        <p:spPr>
          <a:xfrm>
            <a:off x="399372" y="4197281"/>
            <a:ext cx="11353800" cy="14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Preventing data leakages through using only 70% of the dataset during testing/training, which prevents the model from hallucinating and causing discrepancies through picking future, unavailable values from the dataset.</a:t>
            </a:r>
          </a:p>
        </p:txBody>
      </p:sp>
    </p:spTree>
    <p:extLst>
      <p:ext uri="{BB962C8B-B14F-4D97-AF65-F5344CB8AC3E}">
        <p14:creationId xmlns:p14="http://schemas.microsoft.com/office/powerpoint/2010/main" val="20479020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5584-6ECD-26B2-203F-1E090AE60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C926F-5672-9EC4-DBC6-119361BDD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1134254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1BC45-CAED-BB43-A297-009708D5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B897C-9D62-36E3-5DC1-154478A93E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8800" b="1" dirty="0"/>
              <a:t>10 BILLION USD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5C4C08-211C-4506-43A8-E826D07B32DC}"/>
              </a:ext>
            </a:extLst>
          </p:cNvPr>
          <p:cNvSpPr txBox="1">
            <a:spLocks/>
          </p:cNvSpPr>
          <p:nvPr/>
        </p:nvSpPr>
        <p:spPr>
          <a:xfrm>
            <a:off x="970788" y="4489503"/>
            <a:ext cx="10250424" cy="1933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Is the money lost to electricity theft annually.</a:t>
            </a:r>
          </a:p>
        </p:txBody>
      </p:sp>
    </p:spTree>
    <p:extLst>
      <p:ext uri="{BB962C8B-B14F-4D97-AF65-F5344CB8AC3E}">
        <p14:creationId xmlns:p14="http://schemas.microsoft.com/office/powerpoint/2010/main" val="2949280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3A6A-1BD8-8125-15E1-120A167C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74510-291B-9C5B-E362-F7709E2D36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561268"/>
            <a:ext cx="11353800" cy="5735465"/>
          </a:xfrm>
        </p:spPr>
        <p:txBody>
          <a:bodyPr/>
          <a:lstStyle/>
          <a:p>
            <a:r>
              <a:rPr lang="en-IN" sz="6000" b="1" dirty="0"/>
              <a:t>42 THOUSAND ENTRIES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F908AE-F2E0-BF65-87CE-8B663A551E35}"/>
              </a:ext>
            </a:extLst>
          </p:cNvPr>
          <p:cNvSpPr txBox="1">
            <a:spLocks/>
          </p:cNvSpPr>
          <p:nvPr/>
        </p:nvSpPr>
        <p:spPr>
          <a:xfrm>
            <a:off x="970788" y="4489503"/>
            <a:ext cx="10250424" cy="1933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This amount can be expanded to more using data centers and high-powered systems, hence ensuring a system that relies lesser on human auditing and more on probabilistic risk.</a:t>
            </a:r>
          </a:p>
        </p:txBody>
      </p:sp>
    </p:spTree>
    <p:extLst>
      <p:ext uri="{BB962C8B-B14F-4D97-AF65-F5344CB8AC3E}">
        <p14:creationId xmlns:p14="http://schemas.microsoft.com/office/powerpoint/2010/main" val="2892958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915AA47-C380-92B8-FD38-407F9904A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230201"/>
              </p:ext>
            </p:extLst>
          </p:nvPr>
        </p:nvGraphicFramePr>
        <p:xfrm>
          <a:off x="1477384" y="992194"/>
          <a:ext cx="9237232" cy="51038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8616">
                  <a:extLst>
                    <a:ext uri="{9D8B030D-6E8A-4147-A177-3AD203B41FA5}">
                      <a16:colId xmlns:a16="http://schemas.microsoft.com/office/drawing/2014/main" val="1550590424"/>
                    </a:ext>
                  </a:extLst>
                </a:gridCol>
                <a:gridCol w="4618616">
                  <a:extLst>
                    <a:ext uri="{9D8B030D-6E8A-4147-A177-3AD203B41FA5}">
                      <a16:colId xmlns:a16="http://schemas.microsoft.com/office/drawing/2014/main" val="3538378782"/>
                    </a:ext>
                  </a:extLst>
                </a:gridCol>
              </a:tblGrid>
              <a:tr h="1501120">
                <a:tc>
                  <a:txBody>
                    <a:bodyPr/>
                    <a:lstStyle/>
                    <a:p>
                      <a:r>
                        <a:rPr lang="en-IN" dirty="0"/>
                        <a:t>Low-Compute Model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err="1"/>
                        <a:t>LightGBM</a:t>
                      </a:r>
                      <a:r>
                        <a:rPr lang="en-IN" dirty="0"/>
                        <a:t>, for fast training and sub-second inference over tens of thousands of entries.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195531"/>
                  </a:ext>
                </a:extLst>
              </a:tr>
              <a:tr h="1050783">
                <a:tc>
                  <a:txBody>
                    <a:bodyPr/>
                    <a:lstStyle/>
                    <a:p>
                      <a:r>
                        <a:rPr lang="en-IN" dirty="0"/>
                        <a:t>Class Imbalance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Employs class-weighted loss functions to handle real-world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94206"/>
                  </a:ext>
                </a:extLst>
              </a:tr>
              <a:tr h="1501120">
                <a:tc>
                  <a:txBody>
                    <a:bodyPr/>
                    <a:lstStyle/>
                    <a:p>
                      <a:r>
                        <a:rPr lang="en-IN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FastAPI</a:t>
                      </a:r>
                      <a:r>
                        <a:rPr lang="en-IN" dirty="0"/>
                        <a:t> handling model inference as well as providing predictions using REST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33857"/>
                  </a:ext>
                </a:extLst>
              </a:tr>
              <a:tr h="1050783">
                <a:tc>
                  <a:txBody>
                    <a:bodyPr/>
                    <a:lstStyle/>
                    <a:p>
                      <a:r>
                        <a:rPr lang="en-IN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React.js page to help users understand the learnings of the dataset better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81431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A14E145-2F3F-9C93-F4E0-D4D40316F3FB}"/>
              </a:ext>
            </a:extLst>
          </p:cNvPr>
          <p:cNvSpPr txBox="1"/>
          <p:nvPr/>
        </p:nvSpPr>
        <p:spPr>
          <a:xfrm>
            <a:off x="3481219" y="204395"/>
            <a:ext cx="5229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7287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025D0B-D5A8-C67B-8B28-9FCC1F1FDD59}"/>
              </a:ext>
            </a:extLst>
          </p:cNvPr>
          <p:cNvSpPr txBox="1"/>
          <p:nvPr/>
        </p:nvSpPr>
        <p:spPr>
          <a:xfrm>
            <a:off x="1807284" y="2705725"/>
            <a:ext cx="85774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0452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789</TotalTime>
  <Words>432</Words>
  <Application>Microsoft Office PowerPoint</Application>
  <PresentationFormat>Widescreen</PresentationFormat>
  <Paragraphs>51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Neue Haas Grotesk Text Pro</vt:lpstr>
      <vt:lpstr>Playfair Display Black</vt:lpstr>
      <vt:lpstr>Film Burn</vt:lpstr>
      <vt:lpstr>Welcome!</vt:lpstr>
      <vt:lpstr>AI-driven Temporal Anomaly Detection in Smart Grids</vt:lpstr>
      <vt:lpstr>Functionality</vt:lpstr>
      <vt:lpstr>PowerPoint Presentation</vt:lpstr>
      <vt:lpstr>Innovation</vt:lpstr>
      <vt:lpstr>At times, theft is the result of silent, gradual changes. We aim to catch these silent changes by reducing static thresholds and using time-series feature engineering.</vt:lpstr>
      <vt:lpstr>Eliminating randomness by reducing random test/train splits and instead focusing mainly on past consumption data to evaluate the probability of future theft.</vt:lpstr>
      <vt:lpstr>Probabilistic risk scores, combined with proof of past consumption, make the scoring easily explainable.</vt:lpstr>
      <vt:lpstr>Technicality</vt:lpstr>
      <vt:lpstr>PowerPoint Presentation</vt:lpstr>
      <vt:lpstr>Impact</vt:lpstr>
      <vt:lpstr>Quote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Piyush Varman</dc:creator>
  <cp:lastModifiedBy>Piyush Varman</cp:lastModifiedBy>
  <cp:revision>5</cp:revision>
  <dcterms:created xsi:type="dcterms:W3CDTF">2026-09-01T08:19:38Z</dcterms:created>
  <dcterms:modified xsi:type="dcterms:W3CDTF">2026-09-02T13:17:00Z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